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264B"/>
                </a:solidFill>
              </a:defRPr>
            </a:pPr>
            <a:r>
              <a:t>InterviewIQ — Full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982"/>
                </a:solidFill>
              </a:defRPr>
            </a:pPr>
            <a:r>
              <a:t>Actual application architecture: React/Vite client → Express API → MongoDB + AI + authentication + payments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08760"/>
            <a:ext cx="1600200" cy="960120"/>
          </a:xfrm>
          <a:prstGeom prst="roundRect">
            <a:avLst/>
          </a:prstGeom>
          <a:solidFill>
            <a:srgbClr val="E0EE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Users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Students • Freshers • Job Seekers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234440"/>
            <a:ext cx="2423160" cy="1508760"/>
          </a:xfrm>
          <a:prstGeom prst="roundRect">
            <a:avLst/>
          </a:prstGeom>
          <a:solidFill>
            <a:srgbClr val="E5F7EE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React / Vite Frontend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Pages &amp; Components</a:t>
            </a:r>
            <a:br/>
            <a:r>
              <a:t>React Router • Redux Toolkit</a:t>
            </a:r>
            <a:br/>
            <a:r>
              <a:t>Axios • Tailwind CSS</a:t>
            </a:r>
            <a:br/>
            <a:r>
              <a:t>Recharts • jsPDF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234440"/>
            <a:ext cx="1828800" cy="1508760"/>
          </a:xfrm>
          <a:prstGeom prst="roundRect">
            <a:avLst/>
          </a:prstGeom>
          <a:solidFill>
            <a:srgbClr val="EFE8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REST API Layer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Axios requests</a:t>
            </a:r>
            <a:br/>
            <a:r>
              <a:t>JSON responses</a:t>
            </a:r>
            <a:br/>
            <a:r>
              <a:t>Cookie credentials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005840"/>
            <a:ext cx="2240280" cy="1965960"/>
          </a:xfrm>
          <a:prstGeom prst="roundRect">
            <a:avLst/>
          </a:prstGeom>
          <a:solidFill>
            <a:srgbClr val="EFE8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Node.js + Express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Routes</a:t>
            </a:r>
            <a:br/>
            <a:r>
              <a:t>Middleware / Auth</a:t>
            </a:r>
            <a:br/>
            <a:r>
              <a:t>Controllers</a:t>
            </a:r>
            <a:br/>
            <a:r>
              <a:t>Business Logic</a:t>
            </a:r>
            <a:br/>
            <a:r>
              <a:t>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20" y="1234440"/>
            <a:ext cx="1737360" cy="1508760"/>
          </a:xfrm>
          <a:prstGeom prst="roundRect">
            <a:avLst/>
          </a:prstGeom>
          <a:solidFill>
            <a:srgbClr val="FFE8E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MongoDB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User</a:t>
            </a:r>
            <a:br/>
            <a:r>
              <a:t>Interview</a:t>
            </a:r>
            <a:br/>
            <a:r>
              <a:t>Payment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993392"/>
            <a:ext cx="41148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1993392"/>
            <a:ext cx="41148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95160" y="1993392"/>
            <a:ext cx="45720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92640" y="1993392"/>
            <a:ext cx="41148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47088" y="178308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5A6982"/>
                </a:solidFill>
              </a:defRPr>
            </a:pPr>
            <a:r>
              <a:t>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78308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5A6982"/>
                </a:solidFill>
              </a:defRPr>
            </a:pPr>
            <a:r>
              <a:t>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178308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5A6982"/>
                </a:solidFill>
              </a:defRPr>
            </a:pPr>
            <a: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78308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5A6982"/>
                </a:solidFill>
              </a:defRPr>
            </a:pPr>
            <a:r>
              <a:t>Mongoose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3703320"/>
            <a:ext cx="2423160" cy="1143000"/>
          </a:xfrm>
          <a:prstGeom prst="roundRect">
            <a:avLst/>
          </a:prstGeom>
          <a:solidFill>
            <a:srgbClr val="FFF2D8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Firebase Authentication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GoogleAuthProvider</a:t>
            </a:r>
            <a:br/>
            <a:r>
              <a:t>Client-side Google sign-in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3703320"/>
            <a:ext cx="1828800" cy="1143000"/>
          </a:xfrm>
          <a:prstGeom prst="roundRect">
            <a:avLst/>
          </a:prstGeom>
          <a:solidFill>
            <a:srgbClr val="FFF2D8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OpenRouter / LLM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GPT-4o-mini</a:t>
            </a:r>
            <a:br/>
            <a:r>
              <a:t>Question generation</a:t>
            </a:r>
            <a:br/>
            <a:r>
              <a:t>Resume analysis</a:t>
            </a:r>
            <a:br/>
            <a:r>
              <a:t>Answer evaluation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3703320"/>
            <a:ext cx="2240280" cy="1143000"/>
          </a:xfrm>
          <a:prstGeom prst="roundRect">
            <a:avLst/>
          </a:prstGeom>
          <a:solidFill>
            <a:srgbClr val="FFF2D8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Razorpay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Payment gateway</a:t>
            </a:r>
            <a:br/>
            <a:r>
              <a:t>Credits purchase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4120" y="3703320"/>
            <a:ext cx="1737360" cy="1143000"/>
          </a:xfrm>
          <a:prstGeom prst="roundRect">
            <a:avLst/>
          </a:prstGeom>
          <a:solidFill>
            <a:srgbClr val="E1F8FA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PDF / Reports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jsPDF + AutoTable</a:t>
            </a:r>
            <a:br/>
            <a:r>
              <a:t>Client-side report export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080760" y="2971800"/>
            <a:ext cx="2496312" cy="73152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77072" y="2971800"/>
            <a:ext cx="0" cy="73152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657600" y="2971800"/>
            <a:ext cx="4919472" cy="73152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566160" y="2743200"/>
            <a:ext cx="91440" cy="96012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27080" y="2743200"/>
            <a:ext cx="0" cy="96012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60920" y="312724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5A6982"/>
                </a:solidFill>
              </a:defRPr>
            </a:pPr>
            <a:r>
              <a:t>Server-side integrations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3703320"/>
            <a:ext cx="160020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Core Workflow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Auth → Setup → Resume</a:t>
            </a:r>
            <a:br/>
            <a:r>
              <a:t>→ Questions → Interview</a:t>
            </a:r>
            <a:br/>
            <a:r>
              <a:t>→ Evaluation → Report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" y="2743200"/>
            <a:ext cx="0" cy="96012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20040" y="5257800"/>
            <a:ext cx="11521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4B"/>
                </a:solidFill>
              </a:defRPr>
            </a:pPr>
            <a:r>
              <a:t>Major Application Modules</a:t>
            </a:r>
          </a:p>
          <a:p>
            <a:pPr algn="ctr">
              <a:defRPr sz="1050">
                <a:solidFill>
                  <a:srgbClr val="233046"/>
                </a:solidFill>
              </a:defRPr>
            </a:pPr>
            <a:r>
              <a:t>Authentication  •  User Profile  •  Interview Setup  •  Resume PDF Processing  •  AI Question Generation  •  Timed Interview  •  AI Scoring  •  Interview History  •  Reports  •  Credits  •  Payments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10528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5A6982"/>
                </a:solidFill>
              </a:defRPr>
            </a:pPr>
            <a:r>
              <a:t>InterviewIQ — Full System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264B"/>
                </a:solidFill>
              </a:defRPr>
            </a:pPr>
            <a:r>
              <a:t>InterviewIQ — Frontend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982"/>
                </a:solidFill>
              </a:defRPr>
            </a:pPr>
            <a:r>
              <a:t>React 19 + Vite client with routed pages, reusable components, Redux state, API communication and 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965960" cy="4526280"/>
          </a:xfrm>
          <a:prstGeom prst="roundRect">
            <a:avLst/>
          </a:prstGeom>
          <a:solidFill>
            <a:srgbClr val="E5F7EE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React Application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Vite</a:t>
            </a:r>
            <a:br/>
            <a:r>
              <a:t>React 19</a:t>
            </a:r>
            <a:br/>
            <a:r>
              <a:t>React Router</a:t>
            </a:r>
            <a:br/>
            <a:r>
              <a:t>Tailwind CSS</a:t>
            </a:r>
            <a:br/>
            <a:r>
              <a:t>Motion</a:t>
            </a:r>
            <a:br/>
            <a:r>
              <a:t>React Icons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234440"/>
            <a:ext cx="2331720" cy="1920240"/>
          </a:xfrm>
          <a:prstGeom prst="roundRect">
            <a:avLst/>
          </a:prstGeom>
          <a:solidFill>
            <a:srgbClr val="E0EE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Pages / Navigation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Home</a:t>
            </a:r>
            <a:br/>
            <a:r>
              <a:t>Auth</a:t>
            </a:r>
            <a:br/>
            <a:r>
              <a:t>InterviewPage</a:t>
            </a:r>
            <a:br/>
            <a:r>
              <a:t>InterviewHistory</a:t>
            </a:r>
            <a:br/>
            <a:r>
              <a:t>InterviewReport</a:t>
            </a:r>
            <a:br/>
            <a:r>
              <a:t>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3429000"/>
            <a:ext cx="2331720" cy="2331720"/>
          </a:xfrm>
          <a:prstGeom prst="roundRect">
            <a:avLst/>
          </a:prstGeom>
          <a:solidFill>
            <a:srgbClr val="E1F8FA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Components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Step1SetUp</a:t>
            </a:r>
            <a:br/>
            <a:r>
              <a:t>Step2Interview</a:t>
            </a:r>
            <a:br/>
            <a:r>
              <a:t>Step3Report</a:t>
            </a:r>
            <a:br/>
            <a:r>
              <a:t>Timer</a:t>
            </a:r>
            <a:br/>
            <a:r>
              <a:t>Reusable UI components</a:t>
            </a:r>
            <a:br/>
            <a:r>
              <a:t>Interview controls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234440"/>
            <a:ext cx="2194560" cy="1920240"/>
          </a:xfrm>
          <a:prstGeom prst="roundRect">
            <a:avLst/>
          </a:prstGeom>
          <a:solidFill>
            <a:srgbClr val="EFE8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State Management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Redux Toolkit</a:t>
            </a:r>
            <a:br/>
            <a:r>
              <a:t>React Redux</a:t>
            </a:r>
            <a:br/>
            <a:r>
              <a:t>User/auth state</a:t>
            </a:r>
            <a:br/>
            <a:r>
              <a:t>Application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429000"/>
            <a:ext cx="2194560" cy="2331720"/>
          </a:xfrm>
          <a:prstGeom prst="roundRect">
            <a:avLst/>
          </a:prstGeom>
          <a:solidFill>
            <a:srgbClr val="FFF2D8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API &amp; Utilities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Axios</a:t>
            </a:r>
            <a:br/>
            <a:r>
              <a:t>Firebase Auth utility</a:t>
            </a:r>
            <a:br/>
            <a:r>
              <a:t>API requests</a:t>
            </a:r>
            <a:br/>
            <a:r>
              <a:t>Environment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566160" cy="1920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Interview Experience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Interview setup → question display → timer → answer interaction → completion → score/report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429000"/>
            <a:ext cx="3566160" cy="2331720"/>
          </a:xfrm>
          <a:prstGeom prst="roundRect">
            <a:avLst/>
          </a:prstGeom>
          <a:solidFill>
            <a:srgbClr val="FFE8E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Reporting &amp; UI Data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Recharts for analytics</a:t>
            </a:r>
            <a:br/>
            <a:r>
              <a:t>jsPDF + AutoTable for PDF reports</a:t>
            </a:r>
            <a:br/>
            <a:r>
              <a:t>Circular progress visualization</a:t>
            </a:r>
            <a:br/>
            <a:r>
              <a:t>Responsive UI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2011680"/>
            <a:ext cx="36576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23160" y="4526280"/>
            <a:ext cx="36576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2194560"/>
            <a:ext cx="36576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20640" y="4526280"/>
            <a:ext cx="36576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60" y="2194560"/>
            <a:ext cx="41148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4526280"/>
            <a:ext cx="41148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0" y="59893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5A6982"/>
                </a:solidFill>
              </a:defRPr>
            </a:pPr>
            <a:r>
              <a:t>Frontend data flow: User action → Component/Page → Redux/API → Backend → Response → UI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10528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5A6982"/>
                </a:solidFill>
              </a:defRPr>
            </a:pPr>
            <a:r>
              <a:t>InterviewIQ — Frontend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264B"/>
                </a:solidFill>
              </a:defRPr>
            </a:pPr>
            <a:r>
              <a:t>InterviewIQ — Backend, API &amp; 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982"/>
                </a:solidFill>
              </a:defRPr>
            </a:pPr>
            <a:r>
              <a:t>Express server with route/controller/service separation, authentication middleware, Mongoose models and external integrations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1965960" cy="1005840"/>
          </a:xfrm>
          <a:prstGeom prst="roundRect">
            <a:avLst/>
          </a:prstGeom>
          <a:solidFill>
            <a:srgbClr val="E0EE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API Routes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/api/auth</a:t>
            </a:r>
            <a:br/>
            <a:r>
              <a:t>/api/user</a:t>
            </a:r>
            <a:br/>
            <a:r>
              <a:t>/api/interview</a:t>
            </a:r>
            <a:br/>
            <a:r>
              <a:t>/api/payment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43000"/>
            <a:ext cx="1965960" cy="1005840"/>
          </a:xfrm>
          <a:prstGeom prst="roundRect">
            <a:avLst/>
          </a:prstGeom>
          <a:solidFill>
            <a:srgbClr val="E5F7EE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Middleware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Authentication</a:t>
            </a:r>
            <a:br/>
            <a:r>
              <a:t>Cookie parsing</a:t>
            </a:r>
            <a:br/>
            <a:r>
              <a:t>CORS</a:t>
            </a:r>
            <a:br/>
            <a:r>
              <a:t>Request parsing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143000"/>
            <a:ext cx="1965960" cy="1005840"/>
          </a:xfrm>
          <a:prstGeom prst="roundRect">
            <a:avLst/>
          </a:prstGeom>
          <a:solidFill>
            <a:srgbClr val="EFE8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Controllers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Auth</a:t>
            </a:r>
            <a:br/>
            <a:r>
              <a:t>User</a:t>
            </a:r>
            <a:br/>
            <a:r>
              <a:t>Interview</a:t>
            </a:r>
            <a:br/>
            <a:r>
              <a:t>Payment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143000"/>
            <a:ext cx="1965960" cy="1005840"/>
          </a:xfrm>
          <a:prstGeom prst="roundRect">
            <a:avLst/>
          </a:prstGeom>
          <a:solidFill>
            <a:srgbClr val="FFF2D8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Services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OpenRouter AI</a:t>
            </a:r>
            <a:br/>
            <a:r>
              <a:t>Razorpay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143000"/>
            <a:ext cx="1965960" cy="1005840"/>
          </a:xfrm>
          <a:prstGeom prst="roundRect">
            <a:avLst/>
          </a:prstGeom>
          <a:solidFill>
            <a:srgbClr val="FFE8E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Models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User</a:t>
            </a:r>
            <a:br/>
            <a:r>
              <a:t>Interview</a:t>
            </a:r>
            <a:br/>
            <a:r>
              <a:t>Payment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1645920"/>
            <a:ext cx="36576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09160" y="1645920"/>
            <a:ext cx="36576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40880" y="1645920"/>
            <a:ext cx="36576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72600" y="1645920"/>
            <a:ext cx="36576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" y="2880360"/>
            <a:ext cx="3383280" cy="2331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User Collection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name</a:t>
            </a:r>
            <a:br/>
            <a:r>
              <a:t>email (unique)</a:t>
            </a:r>
            <a:br/>
            <a:r>
              <a:t>credits (default 100)</a:t>
            </a:r>
            <a:br/>
            <a:r>
              <a:t>createdAt / updatedAt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880360"/>
            <a:ext cx="3886200" cy="2331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Interview Collection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userId → User</a:t>
            </a:r>
            <a:br/>
            <a:r>
              <a:t>role • experience • mode (HR/Technical)</a:t>
            </a:r>
            <a:br/>
            <a:r>
              <a:t>resumeText</a:t>
            </a:r>
            <a:br/>
            <a:r>
              <a:t>questions[]: question, difficulty, timeLimit,</a:t>
            </a:r>
            <a:br/>
            <a:r>
              <a:t>answer, feedback, score, confidence,</a:t>
            </a:r>
            <a:br/>
            <a:r>
              <a:t>communication, correctness</a:t>
            </a:r>
            <a:br/>
            <a:r>
              <a:t>finalScore • status • timestamps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80360"/>
            <a:ext cx="3657600" cy="2331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14264B"/>
                </a:solidFill>
              </a:defRPr>
            </a:pPr>
            <a:r>
              <a:t>Payment Collection</a:t>
            </a:r>
          </a:p>
          <a:p>
            <a:pPr algn="ctr">
              <a:spcBef>
                <a:spcPts val="300"/>
              </a:spcBef>
              <a:defRPr sz="1050">
                <a:solidFill>
                  <a:srgbClr val="233046"/>
                </a:solidFill>
              </a:defRPr>
            </a:pPr>
            <a:r>
              <a:t>Payment/order information</a:t>
            </a:r>
            <a:br/>
            <a:r>
              <a:t>linked to payment workflow</a:t>
            </a:r>
            <a:br/>
            <a:r>
              <a:t>used for credit purchase flow</a:t>
            </a:r>
            <a:br/>
            <a:br/>
            <a:r>
              <a:t>Razorpay service integration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2148840"/>
            <a:ext cx="0" cy="73152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2148840"/>
            <a:ext cx="0" cy="73152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698480" y="2148840"/>
            <a:ext cx="0" cy="73152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5440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A6982"/>
                </a:solidFill>
              </a:defRPr>
            </a:pPr>
            <a:r>
              <a:t>Logical relationship: User 1 ── N Interview     |     Payment records support credit/payment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806440"/>
            <a:ext cx="11292840" cy="5029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" y="5806440"/>
            <a:ext cx="11292840" cy="502920"/>
          </a:xfrm>
          <a:prstGeom prst="roundRect">
            <a:avLst/>
          </a:prstGeom>
          <a:solidFill>
            <a:srgbClr val="E1F8FA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50" b="1">
                <a:solidFill>
                  <a:srgbClr val="14264B"/>
                </a:solidFill>
              </a:defRPr>
            </a:pPr>
            <a:r>
              <a:t>Server Entry Point</a:t>
            </a:r>
          </a:p>
          <a:p>
            <a:pPr algn="ctr">
              <a:spcBef>
                <a:spcPts val="300"/>
              </a:spcBef>
              <a:defRPr sz="850">
                <a:solidFill>
                  <a:srgbClr val="233046"/>
                </a:solidFill>
              </a:defRPr>
            </a:pPr>
            <a:r>
              <a:t>Express app → dotenv → CORS → JSON parser → cookieParser → route mounting → listen() → connectDb()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5A6982"/>
                </a:solidFill>
              </a:defRPr>
            </a:pPr>
            <a:r>
              <a:t>InterviewIQ — Backend + Database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264B"/>
                </a:solidFill>
              </a:defRPr>
            </a:pPr>
            <a:r>
              <a:t>InterviewIQ — End-to-End Interview &amp; AI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982"/>
                </a:solidFill>
              </a:defRPr>
            </a:pPr>
            <a:r>
              <a:t>Detailed runtime flow from authentication and resume processing to AI questions, evaluation and report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25880"/>
            <a:ext cx="1572768" cy="868680"/>
          </a:xfrm>
          <a:prstGeom prst="roundRect">
            <a:avLst/>
          </a:prstGeom>
          <a:solidFill>
            <a:srgbClr val="E0EE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19" b="1">
                <a:solidFill>
                  <a:srgbClr val="14264B"/>
                </a:solidFill>
              </a:defRPr>
            </a:pPr>
            <a:r>
              <a:t>1. Authenticate</a:t>
            </a:r>
          </a:p>
          <a:p>
            <a:pPr algn="ctr">
              <a:spcBef>
                <a:spcPts val="300"/>
              </a:spcBef>
              <a:defRPr sz="750">
                <a:solidFill>
                  <a:srgbClr val="233046"/>
                </a:solidFill>
              </a:defRPr>
            </a:pPr>
            <a:r>
              <a:t>Firebase Google sign-in</a:t>
            </a:r>
            <a:br/>
            <a:r>
              <a:t>→ /api/auth</a:t>
            </a:r>
            <a:br/>
            <a:r>
              <a:t>→ JWT token</a:t>
            </a:r>
            <a:br/>
            <a:r>
              <a:t>→ httpOnly cookie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47088" y="1764792"/>
            <a:ext cx="182879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84248" y="1325880"/>
            <a:ext cx="1572768" cy="868680"/>
          </a:xfrm>
          <a:prstGeom prst="roundRect">
            <a:avLst/>
          </a:prstGeom>
          <a:solidFill>
            <a:srgbClr val="E5F7EE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19" b="1">
                <a:solidFill>
                  <a:srgbClr val="14264B"/>
                </a:solidFill>
              </a:defRPr>
            </a:pPr>
            <a:r>
              <a:t>2. Setup</a:t>
            </a:r>
          </a:p>
          <a:p>
            <a:pPr algn="ctr">
              <a:spcBef>
                <a:spcPts val="300"/>
              </a:spcBef>
              <a:defRPr sz="750">
                <a:solidFill>
                  <a:srgbClr val="233046"/>
                </a:solidFill>
              </a:defRPr>
            </a:pPr>
            <a:r>
              <a:t>Role + experience + mode</a:t>
            </a:r>
            <a:br/>
            <a:r>
              <a:t>Optional PDF resume upload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57015" y="1764792"/>
            <a:ext cx="182881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94176" y="1325880"/>
            <a:ext cx="1572768" cy="868680"/>
          </a:xfrm>
          <a:prstGeom prst="roundRect">
            <a:avLst/>
          </a:prstGeom>
          <a:solidFill>
            <a:srgbClr val="FFF2D8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19" b="1">
                <a:solidFill>
                  <a:srgbClr val="14264B"/>
                </a:solidFill>
              </a:defRPr>
            </a:pPr>
            <a:r>
              <a:t>3. Resume Analysis</a:t>
            </a:r>
          </a:p>
          <a:p>
            <a:pPr algn="ctr">
              <a:spcBef>
                <a:spcPts val="300"/>
              </a:spcBef>
              <a:defRPr sz="750">
                <a:solidFill>
                  <a:srgbClr val="233046"/>
                </a:solidFill>
              </a:defRPr>
            </a:pPr>
            <a:r>
              <a:t>Multer → pdfjs-dist</a:t>
            </a:r>
            <a:br/>
            <a:r>
              <a:t>Extract text → OpenRouter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66944" y="1764792"/>
            <a:ext cx="18288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04104" y="1325880"/>
            <a:ext cx="1572768" cy="868680"/>
          </a:xfrm>
          <a:prstGeom prst="roundRect">
            <a:avLst/>
          </a:prstGeom>
          <a:solidFill>
            <a:srgbClr val="EFE8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19" b="1">
                <a:solidFill>
                  <a:srgbClr val="14264B"/>
                </a:solidFill>
              </a:defRPr>
            </a:pPr>
            <a:r>
              <a:t>4. Generate Questions</a:t>
            </a:r>
          </a:p>
          <a:p>
            <a:pPr algn="ctr">
              <a:spcBef>
                <a:spcPts val="300"/>
              </a:spcBef>
              <a:defRPr sz="750">
                <a:solidFill>
                  <a:srgbClr val="233046"/>
                </a:solidFill>
              </a:defRPr>
            </a:pPr>
            <a:r>
              <a:t>Backend builds prompt</a:t>
            </a:r>
            <a:br/>
            <a:r>
              <a:t>→ OpenRouter GPT-4o-mini</a:t>
            </a:r>
            <a:br/>
            <a:r>
              <a:t>→ question set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76872" y="1764792"/>
            <a:ext cx="18288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14032" y="1325880"/>
            <a:ext cx="1572768" cy="868680"/>
          </a:xfrm>
          <a:prstGeom prst="roundRect">
            <a:avLst/>
          </a:prstGeom>
          <a:solidFill>
            <a:srgbClr val="E1F8FA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19" b="1">
                <a:solidFill>
                  <a:srgbClr val="14264B"/>
                </a:solidFill>
              </a:defRPr>
            </a:pPr>
            <a:r>
              <a:t>5. Interview</a:t>
            </a:r>
          </a:p>
          <a:p>
            <a:pPr algn="ctr">
              <a:spcBef>
                <a:spcPts val="300"/>
              </a:spcBef>
              <a:defRPr sz="750">
                <a:solidFill>
                  <a:srgbClr val="233046"/>
                </a:solidFill>
              </a:defRPr>
            </a:pPr>
            <a:r>
              <a:t>Question + timer</a:t>
            </a:r>
            <a:br/>
            <a:r>
              <a:t>User submits answer</a:t>
            </a:r>
            <a:br/>
            <a:r>
              <a:t>→ /api/interview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0" y="1764792"/>
            <a:ext cx="18288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23960" y="1325880"/>
            <a:ext cx="1572768" cy="868680"/>
          </a:xfrm>
          <a:prstGeom prst="roundRect">
            <a:avLst/>
          </a:prstGeom>
          <a:solidFill>
            <a:srgbClr val="FFE8E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19" b="1">
                <a:solidFill>
                  <a:srgbClr val="14264B"/>
                </a:solidFill>
              </a:defRPr>
            </a:pPr>
            <a:r>
              <a:t>6. Evaluate</a:t>
            </a:r>
          </a:p>
          <a:p>
            <a:pPr algn="ctr">
              <a:spcBef>
                <a:spcPts val="300"/>
              </a:spcBef>
              <a:defRPr sz="750">
                <a:solidFill>
                  <a:srgbClr val="233046"/>
                </a:solidFill>
              </a:defRPr>
            </a:pPr>
            <a:r>
              <a:t>LLM evaluates</a:t>
            </a:r>
            <a:br/>
            <a:r>
              <a:t>confidence + communication</a:t>
            </a:r>
            <a:br/>
            <a:r>
              <a:t>+ correctness + feedback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96728" y="1764792"/>
            <a:ext cx="18288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533888" y="1325880"/>
            <a:ext cx="1572768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19" b="1">
                <a:solidFill>
                  <a:srgbClr val="14264B"/>
                </a:solidFill>
              </a:defRPr>
            </a:pPr>
            <a:r>
              <a:t>7. Persist &amp; Report</a:t>
            </a:r>
          </a:p>
          <a:p>
            <a:pPr algn="ctr">
              <a:spcBef>
                <a:spcPts val="300"/>
              </a:spcBef>
              <a:defRPr sz="750">
                <a:solidFill>
                  <a:srgbClr val="233046"/>
                </a:solidFill>
              </a:defRPr>
            </a:pPr>
            <a:r>
              <a:t>Interview saved in MongoDB</a:t>
            </a:r>
            <a:br/>
            <a:r>
              <a:t>final score → history/report →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88920"/>
            <a:ext cx="2240280" cy="1143000"/>
          </a:xfrm>
          <a:prstGeom prst="roundRect">
            <a:avLst/>
          </a:prstGeom>
          <a:solidFill>
            <a:srgbClr val="FFF2D8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14264B"/>
                </a:solidFill>
              </a:defRPr>
            </a:pPr>
            <a:r>
              <a:t>Resume → AI</a:t>
            </a:r>
          </a:p>
          <a:p>
            <a:pPr algn="ctr">
              <a:spcBef>
                <a:spcPts val="300"/>
              </a:spcBef>
              <a:defRPr sz="850">
                <a:solidFill>
                  <a:srgbClr val="233046"/>
                </a:solidFill>
              </a:defRPr>
            </a:pPr>
            <a:r>
              <a:t>PDF upload</a:t>
            </a:r>
            <a:br/>
            <a:r>
              <a:t>→ text extraction</a:t>
            </a:r>
            <a:br/>
            <a:r>
              <a:t>→ role / experience / projects / skills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2788920"/>
            <a:ext cx="2240280" cy="1143000"/>
          </a:xfrm>
          <a:prstGeom prst="roundRect">
            <a:avLst/>
          </a:prstGeom>
          <a:solidFill>
            <a:srgbClr val="EFE8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14264B"/>
                </a:solidFill>
              </a:defRPr>
            </a:pPr>
            <a:r>
              <a:t>Question Generation</a:t>
            </a:r>
          </a:p>
          <a:p>
            <a:pPr algn="ctr">
              <a:spcBef>
                <a:spcPts val="300"/>
              </a:spcBef>
              <a:defRPr sz="850">
                <a:solidFill>
                  <a:srgbClr val="233046"/>
                </a:solidFill>
              </a:defRPr>
            </a:pPr>
            <a:r>
              <a:t>Candidate context</a:t>
            </a:r>
            <a:br/>
            <a:r>
              <a:t>→ AI prompt</a:t>
            </a:r>
            <a:br/>
            <a:r>
              <a:t>→ questions + difficulty/time limits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2788920"/>
            <a:ext cx="2240280" cy="1143000"/>
          </a:xfrm>
          <a:prstGeom prst="roundRect">
            <a:avLst/>
          </a:prstGeom>
          <a:solidFill>
            <a:srgbClr val="FFE8E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14264B"/>
                </a:solidFill>
              </a:defRPr>
            </a:pPr>
            <a:r>
              <a:t>Answer Evaluation</a:t>
            </a:r>
          </a:p>
          <a:p>
            <a:pPr algn="ctr">
              <a:spcBef>
                <a:spcPts val="300"/>
              </a:spcBef>
              <a:defRPr sz="850">
                <a:solidFill>
                  <a:srgbClr val="233046"/>
                </a:solidFill>
              </a:defRPr>
            </a:pPr>
            <a:r>
              <a:t>Candidate answer</a:t>
            </a:r>
            <a:br/>
            <a:r>
              <a:t>→ AI scoring</a:t>
            </a:r>
            <a:br/>
            <a:r>
              <a:t>→ feedback +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2788920"/>
            <a:ext cx="2240280" cy="1143000"/>
          </a:xfrm>
          <a:prstGeom prst="roundRect">
            <a:avLst/>
          </a:prstGeom>
          <a:solidFill>
            <a:srgbClr val="E5F7EE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14264B"/>
                </a:solidFill>
              </a:defRPr>
            </a:pPr>
            <a:r>
              <a:t>Persistence</a:t>
            </a:r>
          </a:p>
          <a:p>
            <a:pPr algn="ctr">
              <a:spcBef>
                <a:spcPts val="300"/>
              </a:spcBef>
              <a:defRPr sz="850">
                <a:solidFill>
                  <a:srgbClr val="233046"/>
                </a:solidFill>
              </a:defRPr>
            </a:pPr>
            <a:r>
              <a:t>Interview document</a:t>
            </a:r>
            <a:br/>
            <a:r>
              <a:t>→ questions + evaluations</a:t>
            </a:r>
            <a:br/>
            <a:r>
              <a:t>→ final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78440" y="2788920"/>
            <a:ext cx="1325880" cy="1143000"/>
          </a:xfrm>
          <a:prstGeom prst="roundRect">
            <a:avLst/>
          </a:prstGeom>
          <a:solidFill>
            <a:srgbClr val="E0EE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14264B"/>
                </a:solidFill>
              </a:defRPr>
            </a:pPr>
            <a:r>
              <a:t>Output</a:t>
            </a:r>
          </a:p>
          <a:p>
            <a:pPr algn="ctr">
              <a:spcBef>
                <a:spcPts val="300"/>
              </a:spcBef>
              <a:defRPr sz="850">
                <a:solidFill>
                  <a:srgbClr val="233046"/>
                </a:solidFill>
              </a:defRPr>
            </a:pPr>
            <a:r>
              <a:t>Report</a:t>
            </a:r>
            <a:br/>
            <a:r>
              <a:t>History</a:t>
            </a:r>
            <a:br/>
            <a:r>
              <a:t>PDF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43200" y="3364992"/>
            <a:ext cx="22860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12080" y="3364992"/>
            <a:ext cx="22860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3364992"/>
            <a:ext cx="22860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49840" y="3364992"/>
            <a:ext cx="228600" cy="0"/>
          </a:xfrm>
          <a:prstGeom prst="line">
            <a:avLst/>
          </a:prstGeom>
          <a:ln w="25400">
            <a:solidFill>
              <a:srgbClr val="738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4572000"/>
            <a:ext cx="2788920" cy="960120"/>
          </a:xfrm>
          <a:prstGeom prst="roundRect">
            <a:avLst/>
          </a:prstGeom>
          <a:solidFill>
            <a:srgbClr val="FFF2D8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14264B"/>
                </a:solidFill>
              </a:defRPr>
            </a:pPr>
            <a:r>
              <a:t>External AI Service</a:t>
            </a:r>
          </a:p>
          <a:p>
            <a:pPr algn="ctr">
              <a:spcBef>
                <a:spcPts val="300"/>
              </a:spcBef>
              <a:defRPr sz="850">
                <a:solidFill>
                  <a:srgbClr val="233046"/>
                </a:solidFill>
              </a:defRPr>
            </a:pPr>
            <a:r>
              <a:t>OpenRouter API</a:t>
            </a:r>
            <a:br/>
            <a:r>
              <a:t>Model: openai/gpt-4o-mini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4572000"/>
            <a:ext cx="2788920" cy="960120"/>
          </a:xfrm>
          <a:prstGeom prst="roundRect">
            <a:avLst/>
          </a:prstGeom>
          <a:solidFill>
            <a:srgbClr val="E0EEF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14264B"/>
                </a:solidFill>
              </a:defRPr>
            </a:pPr>
            <a:r>
              <a:t>Authentication</a:t>
            </a:r>
          </a:p>
          <a:p>
            <a:pPr algn="ctr">
              <a:spcBef>
                <a:spcPts val="300"/>
              </a:spcBef>
              <a:defRPr sz="850">
                <a:solidFill>
                  <a:srgbClr val="233046"/>
                </a:solidFill>
              </a:defRPr>
            </a:pPr>
            <a:r>
              <a:t>Firebase Google Auth</a:t>
            </a:r>
            <a:br/>
            <a:r>
              <a:t>Backend token + secure cookie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4572000"/>
            <a:ext cx="2331720" cy="960120"/>
          </a:xfrm>
          <a:prstGeom prst="roundRect">
            <a:avLst/>
          </a:prstGeom>
          <a:solidFill>
            <a:srgbClr val="FFF2D8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14264B"/>
                </a:solidFill>
              </a:defRPr>
            </a:pPr>
            <a:r>
              <a:t>Payments</a:t>
            </a:r>
          </a:p>
          <a:p>
            <a:pPr algn="ctr">
              <a:spcBef>
                <a:spcPts val="300"/>
              </a:spcBef>
              <a:defRPr sz="850">
                <a:solidFill>
                  <a:srgbClr val="233046"/>
                </a:solidFill>
              </a:defRPr>
            </a:pPr>
            <a:r>
              <a:t>Razorpay</a:t>
            </a:r>
            <a:br/>
            <a:r>
              <a:t>Credits purchase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4572000"/>
            <a:ext cx="2423160" cy="960120"/>
          </a:xfrm>
          <a:prstGeom prst="roundRect">
            <a:avLst/>
          </a:prstGeom>
          <a:solidFill>
            <a:srgbClr val="FFE8EF"/>
          </a:solidFill>
          <a:ln w="17780">
            <a:solidFill>
              <a:srgbClr val="738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14264B"/>
                </a:solidFill>
              </a:defRPr>
            </a:pPr>
            <a:r>
              <a:t>Database</a:t>
            </a:r>
          </a:p>
          <a:p>
            <a:pPr algn="ctr">
              <a:spcBef>
                <a:spcPts val="300"/>
              </a:spcBef>
              <a:defRPr sz="850">
                <a:solidFill>
                  <a:srgbClr val="233046"/>
                </a:solidFill>
              </a:defRPr>
            </a:pPr>
            <a:r>
              <a:t>MongoDB + Mongoose</a:t>
            </a:r>
            <a:br/>
            <a:r>
              <a:t>User / Interview / 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10528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5A6982"/>
                </a:solidFill>
              </a:defRPr>
            </a:pPr>
            <a:r>
              <a:t>InterviewIQ — End-to-End Data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